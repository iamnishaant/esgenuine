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 pitch: we turn a 90-page sustainability PDF into structured, page-cited claims, and we measure how far that extraction can be trusted.</a:t>
            </a:r>
          </a:p>
          <a:p/>
          <a:p>
            <a:r>
              <a:t>Replace the bracketed team / institution / date line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problems. Ratings disagree so badly that none can be ground truth. Reports have no schema. And LLM extraction fails quietly: 31.7% of llama-3.3-70b's values on the Tata Power BRSR filing do not occur on the page they cite. That motivates a claim-level system where every number carries its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to right: layout-aware parsing splits text and tables; an LLM extracts candidate claims; then the part we study — a deterministic repair layer with no model and no network; values are checked against the source page; claims are stored with provenance. The React dashboard reads that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scaffold — it has been run end to end. 1,730 claims from six reports, 461 pages, four companies. The NLI contradiction step and the Sentinel-2 satellite checks have both genuinely executed and persisted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real examples from the Tata Power filing. The point: these are failures of vocabulary alignment and document structure, and a deterministic layer that can read the parsed page can catch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five stages. Emphasise that none calls a model: this is post-hoc, rule-based and effectively free — 168 ms for a 373-claim report on a laptop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central finding. On the form-heavy statutory filing, the rule-based gate carries the gain; on the narrative report, taxonomy mapping does. The confidence intervals do not overlap. Because the layer costs almost nothing, a deployment can carry rules for every disclosure format and pick per document.</a:t>
            </a:r>
          </a:p>
          <a:p/>
          <a:p>
            <a:r>
              <a:t>If asked: we quote S1→S5, not S0→S5, because S0's taxonomy accuracy is 0% by construction. And the fixtures were already partly repaired, so these gains are a lower 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pipelines report precision against a gold set sampled from their own output, which structurally cannot count what they missed. We built a recall measure that needs no annotation, and it shows repair trades 5.5 points of table recall for 28.4 points of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ran a larger open-weight model on the same page markdown through the same code path. Recall jumps from 41% to 97% on the statutory filing, and misattributed values fall from 31.7% to 0.9%. We report plainly that this experiment cannot answer whether the repair layer's value survives a better model — no metric we have is both sensitive to the layer and comparable across models. What we can say: the gate intervenes more on the stronger model, not 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what separates the project. Every rate has a confidence interval; the gold sets are protected by a CI gate; every figure regenerates offline from frozen fixtures. And when a cross-check showed the fixtures were already partly repaired, we retracted the finding it affected rather than keep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these before a panel asks. The ablation deltas are the result least exposed to them, because every stage is scored on identical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path, about 3 minutes. Have the dashboard already open and loaded before this slide — the globe takes a few seconds on first load. Backup: keep a screenshot of each step open in another window in case the venue network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held-out set: it retires the largest limitation and is the obvious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000" b="0" i="0">
                <a:solidFill>
                  <a:srgbClr val="0B0B0B"/>
                </a:solidFill>
                <a:latin typeface="Segoe UI Semibold"/>
              </a:rPr>
              <a:t>ESGenuine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971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0" i="0">
                <a:solidFill>
                  <a:srgbClr val="52514E"/>
                </a:solidFill>
                <a:latin typeface="Segoe UI"/>
              </a:rPr>
              <a:t>Claim-level extraction and auditing of corporate ESG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86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898781"/>
                </a:solidFill>
                <a:latin typeface="Segoe UI"/>
              </a:rPr>
              <a:t>Parse  →  extract  →  deterministically repair  →  ground  →  store with provenance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52514E"/>
                </a:solidFill>
                <a:latin typeface="Segoe UI"/>
              </a:rPr>
              <a:t>[Team names]  ·  [Institution]  ·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0" i="0">
                <a:solidFill>
                  <a:srgbClr val="0B0B0B"/>
                </a:solidFill>
                <a:latin typeface="Segoe UI Semibold"/>
              </a:rPr>
              <a:t>ESG reports are read by people and audited by nobody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52514E"/>
                </a:solidFill>
                <a:latin typeface="Segoe UI"/>
              </a:rPr>
              <a:t>Nothing checks the individual numbers a report asserts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98781"/>
                </a:solidFill>
                <a:latin typeface="Segoe UI"/>
              </a:rPr>
              <a:t>ESGenuine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6751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56032" indent="-256032">
              <a:lnSpc>
                <a:spcPct val="108000"/>
              </a:lnSpc>
              <a:spcAft>
                <a:spcPts val="1400"/>
              </a:spcAft>
              <a:buClr>
                <a:srgbClr val="898781"/>
              </a:buClr>
              <a:buFont typeface="Arial"/>
              <a:buChar char="•"/>
            </a:pPr>
            <a:r>
              <a:rPr sz="1700" b="0" i="0">
                <a:solidFill>
                  <a:srgbClr val="0B0B0B"/>
                </a:solidFill>
                <a:latin typeface="Segoe UI Semibold"/>
              </a:rPr>
              <a:t>Ratings disagree.</a:t>
            </a:r>
            <a:r>
              <a:rPr sz="1700" b="0" i="0">
                <a:solidFill>
                  <a:srgbClr val="52514E"/>
                </a:solidFill>
                <a:latin typeface="Segoe UI"/>
              </a:rPr>
              <a:t> Six major ESG raters correlate at only ~0.54 on average (Berg, Kölbel &amp; Rigobon, 2022). A rating cannot serve as ground truth.</a:t>
            </a:r>
          </a:p>
          <a:p>
            <a:pPr marL="256032" indent="-256032">
              <a:lnSpc>
                <a:spcPct val="108000"/>
              </a:lnSpc>
              <a:spcAft>
                <a:spcPts val="1400"/>
              </a:spcAft>
              <a:buClr>
                <a:srgbClr val="898781"/>
              </a:buClr>
              <a:buFont typeface="Arial"/>
              <a:buChar char="•"/>
            </a:pPr>
            <a:r>
              <a:rPr sz="1700" b="0" i="0">
                <a:solidFill>
                  <a:srgbClr val="0B0B0B"/>
                </a:solidFill>
                <a:latin typeface="Segoe UI Semibold"/>
              </a:rPr>
              <a:t>Reports have no schema.</a:t>
            </a:r>
            <a:r>
              <a:rPr sz="1700" b="0" i="0">
                <a:solidFill>
                  <a:srgbClr val="52514E"/>
                </a:solidFill>
                <a:latin typeface="Segoe UI"/>
              </a:rPr>
              <a:t> The same metric is a table cell in one report, a sentence in another and a footnote in a third.</a:t>
            </a:r>
          </a:p>
          <a:p>
            <a:pPr marL="256032" indent="-256032">
              <a:lnSpc>
                <a:spcPct val="108000"/>
              </a:lnSpc>
              <a:spcAft>
                <a:spcPts val="1400"/>
              </a:spcAft>
              <a:buClr>
                <a:srgbClr val="898781"/>
              </a:buClr>
              <a:buFont typeface="Arial"/>
              <a:buChar char="•"/>
            </a:pPr>
            <a:r>
              <a:rPr sz="1700" b="0" i="0">
                <a:solidFill>
                  <a:srgbClr val="0B0B0B"/>
                </a:solidFill>
                <a:latin typeface="Segoe UI Semibold"/>
              </a:rPr>
              <a:t>LLM extraction fails silently.</a:t>
            </a:r>
            <a:r>
              <a:rPr sz="1700" b="0" i="0">
                <a:solidFill>
                  <a:srgbClr val="52514E"/>
                </a:solidFill>
                <a:latin typeface="Segoe UI"/>
              </a:rPr>
              <a:t> The model returns a plausible number, with no signal when it is wrong.</a:t>
            </a:r>
          </a:p>
          <a:p>
            <a:pPr marL="256032" indent="-256032">
              <a:lnSpc>
                <a:spcPct val="108000"/>
              </a:lnSpc>
              <a:spcAft>
                <a:spcPts val="1400"/>
              </a:spcAft>
              <a:buClr>
                <a:srgbClr val="898781"/>
              </a:buClr>
              <a:buFont typeface="Arial"/>
              <a:buChar char="•"/>
            </a:pPr>
            <a:r>
              <a:rPr sz="1700" b="0" i="0">
                <a:solidFill>
                  <a:srgbClr val="0B0B0B"/>
                </a:solidFill>
                <a:latin typeface="Segoe UI Semibold"/>
              </a:rPr>
              <a:t>So we change the unit of analysis:</a:t>
            </a:r>
            <a:r>
              <a:rPr sz="1700" b="0" i="0">
                <a:solidFill>
                  <a:srgbClr val="52514E"/>
                </a:solidFill>
                <a:latin typeface="Segoe UI"/>
              </a:rPr>
              <a:t> from the company to the individual claim, tied to its page and source sentence.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0"/>
            <a:ext cx="3840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200" b="0" i="0">
                <a:solidFill>
                  <a:srgbClr val="0B0B0B"/>
                </a:solidFill>
                <a:latin typeface="Segoe UI Semibold"/>
              </a:rPr>
              <a:t>31.7%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337560"/>
            <a:ext cx="37490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52514E"/>
                </a:solidFill>
                <a:latin typeface="Segoe UI"/>
              </a:rPr>
              <a:t>of a 70B model's extracted values on a statutory filing do not appear on the page they cite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79" y="2011680"/>
            <a:ext cx="0" cy="283464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0" i="0">
                <a:solidFill>
                  <a:srgbClr val="0B0B0B"/>
                </a:solidFill>
                <a:latin typeface="Segoe UI Semibold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52514E"/>
                </a:solidFill>
                <a:latin typeface="Segoe UI"/>
              </a:rPr>
              <a:t>An end-to-end pipeline and a dashboard over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98781"/>
                </a:solidFill>
                <a:latin typeface="Segoe UI"/>
              </a:rPr>
              <a:t>ESGenuine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8571" y="1965960"/>
            <a:ext cx="1627632" cy="1051560"/>
          </a:xfrm>
          <a:prstGeom prst="roundRect">
            <a:avLst>
              <a:gd name="adj" fmla="val 12000"/>
            </a:avLst>
          </a:prstGeom>
          <a:solidFill>
            <a:srgbClr val="F4F4F1"/>
          </a:solidFill>
          <a:ln w="952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0B0B0B"/>
                </a:solidFill>
                <a:latin typeface="Segoe UI"/>
              </a:rPr>
              <a:t>PDF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87955" y="1965960"/>
            <a:ext cx="1627632" cy="1051560"/>
          </a:xfrm>
          <a:prstGeom prst="roundRect">
            <a:avLst>
              <a:gd name="adj" fmla="val 12000"/>
            </a:avLst>
          </a:prstGeom>
          <a:solidFill>
            <a:srgbClr val="F4F4F1"/>
          </a:solidFill>
          <a:ln w="952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0B0B0B"/>
                </a:solidFill>
                <a:latin typeface="Segoe UI"/>
              </a:rPr>
              <a:t>Layout-aware
parsing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7339" y="1965960"/>
            <a:ext cx="1627632" cy="1051560"/>
          </a:xfrm>
          <a:prstGeom prst="roundRect">
            <a:avLst>
              <a:gd name="adj" fmla="val 12000"/>
            </a:avLst>
          </a:prstGeom>
          <a:solidFill>
            <a:srgbClr val="F4F4F1"/>
          </a:solidFill>
          <a:ln w="952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0B0B0B"/>
                </a:solidFill>
                <a:latin typeface="Segoe UI"/>
              </a:rPr>
              <a:t>LLM
extraction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6723" y="1965960"/>
            <a:ext cx="1627632" cy="1051560"/>
          </a:xfrm>
          <a:prstGeom prst="roundRect">
            <a:avLst>
              <a:gd name="adj" fmla="val 12000"/>
            </a:avLst>
          </a:prstGeom>
          <a:solidFill>
            <a:srgbClr val="CDE2FB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0B0B0B"/>
                </a:solidFill>
                <a:latin typeface="Segoe UI Semibold"/>
              </a:rPr>
              <a:t>Deterministic
repair  S1–S5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6107" y="1965960"/>
            <a:ext cx="1627632" cy="1051560"/>
          </a:xfrm>
          <a:prstGeom prst="roundRect">
            <a:avLst>
              <a:gd name="adj" fmla="val 12000"/>
            </a:avLst>
          </a:prstGeom>
          <a:solidFill>
            <a:srgbClr val="F4F4F1"/>
          </a:solidFill>
          <a:ln w="952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0B0B0B"/>
                </a:solidFill>
                <a:latin typeface="Segoe UI"/>
              </a:rPr>
              <a:t>Grounding &amp;
provenance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05491" y="1965960"/>
            <a:ext cx="1627632" cy="1051560"/>
          </a:xfrm>
          <a:prstGeom prst="roundRect">
            <a:avLst>
              <a:gd name="adj" fmla="val 12000"/>
            </a:avLst>
          </a:prstGeom>
          <a:solidFill>
            <a:srgbClr val="F4F4F1"/>
          </a:solidFill>
          <a:ln w="952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0B0B0B"/>
                </a:solidFill>
                <a:latin typeface="Segoe UI"/>
              </a:rPr>
              <a:t>Claim store
(Supabase)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22779" y="2491740"/>
            <a:ext cx="22860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52163" y="2491740"/>
            <a:ext cx="22860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81547" y="2491740"/>
            <a:ext cx="22860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10931" y="2491740"/>
            <a:ext cx="22860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840315" y="2491740"/>
            <a:ext cx="22860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23763" y="3108960"/>
            <a:ext cx="3273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A78D6"/>
                </a:solidFill>
                <a:latin typeface="Segoe UI Semibold"/>
              </a:rPr>
              <a:t>no model · no network · 0.45 ms/claim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40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0B0B0B"/>
                </a:solidFill>
                <a:latin typeface="Segoe UI Semibold"/>
              </a:rPr>
              <a:t>What the dashboard shows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43400"/>
            <a:ext cx="2066543" cy="109728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0" i="0">
                <a:solidFill>
                  <a:srgbClr val="0B0B0B"/>
                </a:solidFill>
                <a:latin typeface="Segoe UI Semibold"/>
              </a:rPr>
              <a:t>Portfolio globe</a:t>
            </a:r>
          </a:p>
          <a:p>
            <a:pPr algn="ctr"/>
            <a:r>
              <a:rPr sz="1150" b="0" i="0">
                <a:solidFill>
                  <a:srgbClr val="52514E"/>
                </a:solidFill>
                <a:latin typeface="Segoe UI"/>
              </a:rPr>
              <a:t>companies at a glance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98063" y="4343400"/>
            <a:ext cx="2066543" cy="109728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0" i="0">
                <a:solidFill>
                  <a:srgbClr val="0B0B0B"/>
                </a:solidFill>
                <a:latin typeface="Segoe UI Semibold"/>
              </a:rPr>
              <a:t>Claim explorer</a:t>
            </a:r>
          </a:p>
          <a:p>
            <a:pPr algn="ctr"/>
            <a:r>
              <a:rPr sz="1150" b="0" i="0">
                <a:solidFill>
                  <a:srgbClr val="52514E"/>
                </a:solidFill>
                <a:latin typeface="Segoe UI"/>
              </a:rPr>
              <a:t>every claim with page + source sentence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47486" y="4343400"/>
            <a:ext cx="2066543" cy="109728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0" i="0">
                <a:solidFill>
                  <a:srgbClr val="0B0B0B"/>
                </a:solidFill>
                <a:latin typeface="Segoe UI Semibold"/>
              </a:rPr>
              <a:t>Integrity audit</a:t>
            </a:r>
          </a:p>
          <a:p>
            <a:pPr algn="ctr"/>
            <a:r>
              <a:rPr sz="1150" b="0" i="0">
                <a:solidFill>
                  <a:srgbClr val="52514E"/>
                </a:solidFill>
                <a:latin typeface="Segoe UI"/>
              </a:rPr>
              <a:t>greenwashing flags &amp; scores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09" y="4343400"/>
            <a:ext cx="2066543" cy="109728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0" i="0">
                <a:solidFill>
                  <a:srgbClr val="0B0B0B"/>
                </a:solidFill>
                <a:latin typeface="Segoe UI Semibold"/>
              </a:rPr>
              <a:t>Contradictions</a:t>
            </a:r>
          </a:p>
          <a:p>
            <a:pPr algn="ctr"/>
            <a:r>
              <a:rPr sz="1150" b="0" i="0">
                <a:solidFill>
                  <a:srgbClr val="52514E"/>
                </a:solidFill>
                <a:latin typeface="Segoe UI"/>
              </a:rPr>
              <a:t>cross-report NLI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46332" y="4343400"/>
            <a:ext cx="2066543" cy="109728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0" i="0">
                <a:solidFill>
                  <a:srgbClr val="0B0B0B"/>
                </a:solidFill>
                <a:latin typeface="Segoe UI Semibold"/>
              </a:rPr>
              <a:t>Satellite evidence</a:t>
            </a:r>
          </a:p>
          <a:p>
            <a:pPr algn="ctr"/>
            <a:r>
              <a:rPr sz="1150" b="0" i="0">
                <a:solidFill>
                  <a:srgbClr val="52514E"/>
                </a:solidFill>
                <a:latin typeface="Segoe UI"/>
              </a:rPr>
              <a:t>Sentinel-2 NDVI checks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0" i="0">
                <a:solidFill>
                  <a:srgbClr val="0B0B0B"/>
                </a:solidFill>
                <a:latin typeface="Segoe UI Semibold"/>
              </a:rPr>
              <a:t>It runs end to end on real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52514E"/>
                </a:solidFill>
                <a:latin typeface="Segoe UI"/>
              </a:rPr>
              <a:t>Counts from the live database, not a mock-up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98781"/>
                </a:solidFill>
                <a:latin typeface="Segoe UI"/>
              </a:rPr>
              <a:t>ESGenuine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/>
            <a:r>
              <a:rPr sz="3400" b="0" i="0">
                <a:solidFill>
                  <a:srgbClr val="0B0B0B"/>
                </a:solidFill>
                <a:latin typeface="Segoe UI Semibold"/>
              </a:rPr>
              <a:t>1,730</a:t>
            </a:r>
          </a:p>
          <a:p>
            <a:pPr algn="l"/>
            <a:r>
              <a:rPr sz="1300" b="0" i="0">
                <a:solidFill>
                  <a:srgbClr val="52514E"/>
                </a:solidFill>
                <a:latin typeface="Segoe UI"/>
              </a:rPr>
              <a:t>claims extracted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1104" y="182880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/>
            <a:r>
              <a:rPr sz="3400" b="0" i="0">
                <a:solidFill>
                  <a:srgbClr val="0B0B0B"/>
                </a:solidFill>
                <a:latin typeface="Segoe UI Semibold"/>
              </a:rPr>
              <a:t>6</a:t>
            </a:r>
          </a:p>
          <a:p>
            <a:pPr algn="l"/>
            <a:r>
              <a:rPr sz="1300" b="0" i="0">
                <a:solidFill>
                  <a:srgbClr val="52514E"/>
                </a:solidFill>
                <a:latin typeface="Segoe UI"/>
              </a:rPr>
              <a:t>sustainability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82880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/>
            <a:r>
              <a:rPr sz="3400" b="0" i="0">
                <a:solidFill>
                  <a:srgbClr val="0B0B0B"/>
                </a:solidFill>
                <a:latin typeface="Segoe UI Semibold"/>
              </a:rPr>
              <a:t>461</a:t>
            </a:r>
          </a:p>
          <a:p>
            <a:pPr algn="l"/>
            <a:r>
              <a:rPr sz="1300" b="0" i="0">
                <a:solidFill>
                  <a:srgbClr val="52514E"/>
                </a:solidFill>
                <a:latin typeface="Segoe UI"/>
              </a:rPr>
              <a:t>PDF 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83864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/>
            <a:r>
              <a:rPr sz="3400" b="0" i="0">
                <a:solidFill>
                  <a:srgbClr val="0B0B0B"/>
                </a:solidFill>
                <a:latin typeface="Segoe UI Semibold"/>
              </a:rPr>
              <a:t>4</a:t>
            </a:r>
          </a:p>
          <a:p>
            <a:pPr algn="l"/>
            <a:r>
              <a:rPr sz="1300" b="0" i="0">
                <a:solidFill>
                  <a:srgbClr val="52514E"/>
                </a:solidFill>
                <a:latin typeface="Segoe UI"/>
              </a:rPr>
              <a:t>companies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3483864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/>
            <a:r>
              <a:rPr sz="3400" b="0" i="0">
                <a:solidFill>
                  <a:srgbClr val="0B0B0B"/>
                </a:solidFill>
                <a:latin typeface="Segoe UI Semibold"/>
              </a:rPr>
              <a:t>16</a:t>
            </a:r>
          </a:p>
          <a:p>
            <a:pPr algn="l"/>
            <a:r>
              <a:rPr sz="1300" b="0" i="0">
                <a:solidFill>
                  <a:srgbClr val="52514E"/>
                </a:solidFill>
                <a:latin typeface="Segoe UI"/>
              </a:rPr>
              <a:t>cross-report contradictions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3483864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/>
            <a:r>
              <a:rPr sz="3400" b="0" i="0">
                <a:solidFill>
                  <a:srgbClr val="0B0B0B"/>
                </a:solidFill>
                <a:latin typeface="Segoe UI Semibold"/>
              </a:rPr>
              <a:t>82</a:t>
            </a:r>
          </a:p>
          <a:p>
            <a:pPr algn="l"/>
            <a:r>
              <a:rPr sz="1300" b="0" i="0">
                <a:solidFill>
                  <a:srgbClr val="52514E"/>
                </a:solidFill>
                <a:latin typeface="Segoe UI"/>
              </a:rPr>
              <a:t>satellite evidence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578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52514E"/>
                </a:solidFill>
                <a:latin typeface="Segoe UI"/>
              </a:rPr>
              <a:t>80.6% carry a numeric value  ·  1,263 performance / 370 narrative / 97 target  ·  Tata Power (statutory BRSR), Shell, Infosys, Microsoft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0" i="0">
                <a:solidFill>
                  <a:srgbClr val="0B0B0B"/>
                </a:solidFill>
                <a:latin typeface="Segoe UI Semibold"/>
              </a:rPr>
              <a:t>LLMs extract easily — and normalise badly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52514E"/>
                </a:solidFill>
                <a:latin typeface="Segoe UI"/>
              </a:rPr>
              <a:t>Three failure families, all taken from our own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98781"/>
                </a:solidFill>
                <a:latin typeface="Segoe UI"/>
              </a:rPr>
              <a:t>ESGenuine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2606040"/>
          </a:xfrm>
          <a:prstGeom prst="roundRect">
            <a:avLst>
              <a:gd name="adj" fmla="val 5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l"/>
            <a:r>
              <a:rPr sz="1900" b="0" i="0">
                <a:solidFill>
                  <a:srgbClr val="0B0B0B"/>
                </a:solidFill>
                <a:latin typeface="Segoe UI Semibold"/>
              </a:rPr>
              <a:t>Vocabulary drift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450" b="0" i="0">
                <a:solidFill>
                  <a:srgbClr val="52514E"/>
                </a:solidFill>
                <a:latin typeface="Segoe UI"/>
              </a:rPr>
              <a:t>The model writes “GHG emissions” or “carbon footprint”; the claim store needs emissions.scope1.co2e. Free text cannot be compared across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828800"/>
            <a:ext cx="3566160" cy="2606040"/>
          </a:xfrm>
          <a:prstGeom prst="roundRect">
            <a:avLst>
              <a:gd name="adj" fmla="val 5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l"/>
            <a:r>
              <a:rPr sz="1900" b="0" i="0">
                <a:solidFill>
                  <a:srgbClr val="0B0B0B"/>
                </a:solidFill>
                <a:latin typeface="Segoe UI Semibold"/>
              </a:rPr>
              <a:t>Structural misreads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450" b="0" i="0">
                <a:solidFill>
                  <a:srgbClr val="52514E"/>
                </a:solidFill>
                <a:latin typeface="Segoe UI"/>
              </a:rPr>
              <a:t>In a wide fiscal-year table the value comes from the neighbouring column, so the FY23 row carries the FY24 number — fluent, plausible, wrong.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56448" y="1828800"/>
            <a:ext cx="3566160" cy="2606040"/>
          </a:xfrm>
          <a:prstGeom prst="roundRect">
            <a:avLst>
              <a:gd name="adj" fmla="val 5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l"/>
            <a:r>
              <a:rPr sz="1900" b="0" i="0">
                <a:solidFill>
                  <a:srgbClr val="0B0B0B"/>
                </a:solidFill>
                <a:latin typeface="Segoe UI Semibold"/>
              </a:rPr>
              <a:t>Furniture &amp; fabrication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450" b="0" i="0">
                <a:solidFill>
                  <a:srgbClr val="52514E"/>
                </a:solidFill>
                <a:latin typeface="Segoe UI"/>
              </a:rPr>
              <a:t>The form header “No. of employees covered as a % of total employees” becomes a claim of 100%; “Differently abled employees and workers” becomes 44 employees. Neither number is in the 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0B0B0B"/>
                </a:solidFill>
                <a:latin typeface="Segoe UI Semibold"/>
              </a:rPr>
              <a:t>None of these is a fluency problem a bigger model obviously fixes — but all of them can be checked after generation, against the parsed page.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0" i="0">
                <a:solidFill>
                  <a:srgbClr val="0B0B0B"/>
                </a:solidFill>
                <a:latin typeface="Segoe UI Semibold"/>
              </a:rPr>
              <a:t>The deterministic repair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52514E"/>
                </a:solidFill>
                <a:latin typeface="Segoe UI"/>
              </a:rPr>
              <a:t>Five cumulative stages. No model, no network, 0.45 ms per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98781"/>
                </a:solidFill>
                <a:latin typeface="Segoe UI"/>
              </a:rPr>
              <a:t>ESGenuine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777240" cy="658368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0B0B0B"/>
                </a:solidFill>
                <a:latin typeface="Segoe UI Semibold"/>
              </a:rPr>
              <a:t>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83080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0">
                <a:solidFill>
                  <a:srgbClr val="0B0B0B"/>
                </a:solidFill>
                <a:latin typeface="Segoe UI Semibold"/>
              </a:rPr>
              <a:t>Taxonomy normalisation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783080"/>
            <a:ext cx="70253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52514E"/>
                </a:solidFill>
                <a:latin typeface="Segoe UI"/>
              </a:rPr>
              <a:t>free text → one of 51 taxonomy nodes across 7 pillars (word-boundary matching, so “diversity” never becomes “biodiversity”)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9464"/>
            <a:ext cx="777240" cy="658368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0B0B0B"/>
                </a:solidFill>
                <a:latin typeface="Segoe UI Semibold"/>
              </a:rPr>
              <a:t>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69464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0">
                <a:solidFill>
                  <a:srgbClr val="0B0B0B"/>
                </a:solidFill>
                <a:latin typeface="Segoe UI Semibold"/>
              </a:rPr>
              <a:t>Fiscal-year column repair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69464"/>
            <a:ext cx="70253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52514E"/>
                </a:solidFill>
                <a:latin typeface="Segoe UI"/>
              </a:rPr>
              <a:t>row label names FY23 but the value came from FY24 → re-read the correct cell from the parsed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55848"/>
            <a:ext cx="777240" cy="658368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0B0B0B"/>
                </a:solidFill>
                <a:latin typeface="Segoe UI Semibold"/>
              </a:rPr>
              <a:t>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55848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0">
                <a:solidFill>
                  <a:srgbClr val="0B0B0B"/>
                </a:solidFill>
                <a:latin typeface="Segoe UI Semibold"/>
              </a:rPr>
              <a:t>Value-in-table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355848"/>
            <a:ext cx="70253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52514E"/>
                </a:solidFill>
                <a:latin typeface="Segoe UI"/>
              </a:rPr>
              <a:t>flag table values that do not appear on the source page (handles Indian 3,86,71,851 and Western 38,671,851 digit grouping)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42232"/>
            <a:ext cx="777240" cy="658368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0B0B0B"/>
                </a:solidFill>
                <a:latin typeface="Segoe UI Semibold"/>
              </a:rPr>
              <a:t>S4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142232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0">
                <a:solidFill>
                  <a:srgbClr val="0B0B0B"/>
                </a:solidFill>
                <a:latin typeface="Segoe UI Semibold"/>
              </a:rPr>
              <a:t>Rule-based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142232"/>
            <a:ext cx="70253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52514E"/>
                </a:solidFill>
                <a:latin typeface="Segoe UI"/>
              </a:rPr>
              <a:t>~40 rules: Scope 1/2/3 from row text, gender vs biodiversity, waste vs water, commitment phrasing → target; implausible units flagged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28616"/>
            <a:ext cx="777240" cy="658368"/>
          </a:xfrm>
          <a:prstGeom prst="roundRect">
            <a:avLst>
              <a:gd name="adj" fmla="val 15000"/>
            </a:avLst>
          </a:prstGeom>
          <a:solidFill>
            <a:srgbClr val="CDE2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0B0B0B"/>
                </a:solidFill>
                <a:latin typeface="Segoe UI Semibold"/>
              </a:rPr>
              <a:t>S5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928616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0">
                <a:solidFill>
                  <a:srgbClr val="0B0B0B"/>
                </a:solidFill>
                <a:latin typeface="Segoe UI Semibold"/>
              </a:rPr>
              <a:t>Furniture filter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928616"/>
            <a:ext cx="70253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0" i="0">
                <a:solidFill>
                  <a:srgbClr val="52514E"/>
                </a:solidFill>
                <a:latin typeface="Segoe UI"/>
              </a:rPr>
              <a:t>drop form questions and short labels carrying numbers they cannot contain — the only stage that removes claims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0" i="0">
                <a:solidFill>
                  <a:srgbClr val="0B0B0B"/>
                </a:solidFill>
                <a:latin typeface="Segoe UI Semibold"/>
              </a:rPr>
              <a:t>Which repair matters depends on the kind of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52514E"/>
                </a:solidFill>
                <a:latin typeface="Segoe UI"/>
              </a:rPr>
              <a:t>Ablation across two disclosure regimes, 95% CIs from a paired bootstrap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98781"/>
                </a:solidFill>
                <a:latin typeface="Segoe UI"/>
              </a:rPr>
              <a:t>ESGenuine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  <p:pic>
        <p:nvPicPr>
          <p:cNvPr id="6" name="Picture 5" descr="fig_readme_1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406640" cy="37346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73736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CDE2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2000" b="0" i="0">
                <a:solidFill>
                  <a:srgbClr val="0B0B0B"/>
                </a:solidFill>
                <a:latin typeface="Segoe UI Semibold"/>
              </a:rPr>
              <a:t>+20.5 from the gate</a:t>
            </a:r>
          </a:p>
          <a:p>
            <a:pPr algn="l">
              <a:spcBef>
                <a:spcPts val="300"/>
              </a:spcBef>
            </a:pPr>
            <a:r>
              <a:rPr sz="1250" b="0" i="0">
                <a:solidFill>
                  <a:srgbClr val="52514E"/>
                </a:solidFill>
                <a:latin typeface="Segoe UI"/>
              </a:rPr>
              <a:t>on the statutory BRSR filing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52514E"/>
                </a:solidFill>
                <a:latin typeface="Segoe UI"/>
              </a:rPr>
              <a:t>95% CI [16.3, 25.2]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310896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CDE2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2000" b="0" i="0">
                <a:solidFill>
                  <a:srgbClr val="0B0B0B"/>
                </a:solidFill>
                <a:latin typeface="Segoe UI Semibold"/>
              </a:rPr>
              <a:t>+10.6 from the taxonomy</a:t>
            </a:r>
          </a:p>
          <a:p>
            <a:pPr algn="l">
              <a:spcBef>
                <a:spcPts val="300"/>
              </a:spcBef>
            </a:pPr>
            <a:r>
              <a:rPr sz="1250" b="0" i="0">
                <a:solidFill>
                  <a:srgbClr val="52514E"/>
                </a:solidFill>
                <a:latin typeface="Segoe UI"/>
              </a:rPr>
              <a:t>on the narrative report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52514E"/>
                </a:solidFill>
                <a:latin typeface="Segoe UI"/>
              </a:rPr>
              <a:t>95% CI [7.8, 13.5]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48056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2000" b="0" i="0">
                <a:solidFill>
                  <a:srgbClr val="0B0B0B"/>
                </a:solidFill>
                <a:latin typeface="Segoe UI Semibold"/>
              </a:rPr>
              <a:t>+24.6 and +7.0 points</a:t>
            </a:r>
          </a:p>
          <a:p>
            <a:pPr algn="l">
              <a:spcBef>
                <a:spcPts val="300"/>
              </a:spcBef>
            </a:pPr>
            <a:r>
              <a:rPr sz="1250" b="0" i="0">
                <a:solidFill>
                  <a:srgbClr val="52514E"/>
                </a:solidFill>
                <a:latin typeface="Segoe UI"/>
              </a:rPr>
              <a:t>whole layer over an LLM + vocabulary baseline, at zero inference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7406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0B0B0B"/>
                </a:solidFill>
                <a:latin typeface="Segoe UI Semibold"/>
              </a:rPr>
              <a:t>The two intervals do not overlap: one pipeline tuned on one regime under-serves the other.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0" i="0">
                <a:solidFill>
                  <a:srgbClr val="0B0B0B"/>
                </a:solidFill>
                <a:latin typeface="Segoe UI Semibold"/>
              </a:rPr>
              <a:t>Precision gains cost recall — so we measure both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52514E"/>
                </a:solidFill>
                <a:latin typeface="Segoe UI"/>
              </a:rPr>
              <a:t>Statutory filing, same repair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98781"/>
                </a:solidFill>
                <a:latin typeface="Segoe UI"/>
              </a:rPr>
              <a:t>ESGenuine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  <p:pic>
        <p:nvPicPr>
          <p:cNvPr id="6" name="Picture 5" descr="fig_readme_2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02230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03720" y="1828800"/>
            <a:ext cx="47548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56032" indent="-256032">
              <a:lnSpc>
                <a:spcPct val="108000"/>
              </a:lnSpc>
              <a:spcAft>
                <a:spcPts val="1400"/>
              </a:spcAft>
              <a:buClr>
                <a:srgbClr val="898781"/>
              </a:buClr>
              <a:buFont typeface="Arial"/>
              <a:buChar char="•"/>
            </a:pPr>
            <a:r>
              <a:rPr sz="1600" b="0" i="0">
                <a:solidFill>
                  <a:srgbClr val="0B0B0B"/>
                </a:solidFill>
                <a:latin typeface="Segoe UI Semibold"/>
              </a:rPr>
              <a:t>Precision composite</a:t>
            </a:r>
            <a:r>
              <a:rPr sz="1600" b="0" i="0">
                <a:solidFill>
                  <a:srgbClr val="52514E"/>
                </a:solidFill>
                <a:latin typeface="Segoe UI"/>
              </a:rPr>
              <a:t> 67.7 → 96.1 across the repair stages.</a:t>
            </a:r>
          </a:p>
          <a:p>
            <a:pPr marL="256032" indent="-256032">
              <a:lnSpc>
                <a:spcPct val="108000"/>
              </a:lnSpc>
              <a:spcAft>
                <a:spcPts val="1400"/>
              </a:spcAft>
              <a:buClr>
                <a:srgbClr val="898781"/>
              </a:buClr>
              <a:buFont typeface="Arial"/>
              <a:buChar char="•"/>
            </a:pPr>
            <a:r>
              <a:rPr sz="1600" b="0" i="0">
                <a:solidFill>
                  <a:srgbClr val="0B0B0B"/>
                </a:solidFill>
                <a:latin typeface="Segoe UI Semibold"/>
              </a:rPr>
              <a:t>Table-fact recall</a:t>
            </a:r>
            <a:r>
              <a:rPr sz="1600" b="0" i="0">
                <a:solidFill>
                  <a:srgbClr val="52514E"/>
                </a:solidFill>
                <a:latin typeface="Segoe UI"/>
              </a:rPr>
              <a:t> 59.5% → 54.0%: the filters drop some genuine facts.</a:t>
            </a:r>
          </a:p>
          <a:p>
            <a:pPr marL="256032" indent="-256032">
              <a:lnSpc>
                <a:spcPct val="108000"/>
              </a:lnSpc>
              <a:spcAft>
                <a:spcPts val="1400"/>
              </a:spcAft>
              <a:buClr>
                <a:srgbClr val="898781"/>
              </a:buClr>
              <a:buFont typeface="Arial"/>
              <a:buChar char="•"/>
            </a:pPr>
            <a:r>
              <a:rPr sz="1600" b="0" i="0">
                <a:solidFill>
                  <a:srgbClr val="0B0B0B"/>
                </a:solidFill>
                <a:latin typeface="Segoe UI Semibold"/>
              </a:rPr>
              <a:t>Recall without annotation.</a:t>
            </a:r>
            <a:r>
              <a:rPr sz="1600" b="0" i="0">
                <a:solidFill>
                  <a:srgbClr val="52514E"/>
                </a:solidFill>
                <a:latin typeface="Segoe UI"/>
              </a:rPr>
              <a:t> Parsed tables keep row labels and column headers, so every numeric fact on a page can be enumerated mechanically — a denominator independent of the system under test.</a:t>
            </a:r>
          </a:p>
          <a:p>
            <a:pPr marL="256032" indent="-256032">
              <a:lnSpc>
                <a:spcPct val="108000"/>
              </a:lnSpc>
              <a:spcAft>
                <a:spcPts val="1400"/>
              </a:spcAft>
              <a:buClr>
                <a:srgbClr val="898781"/>
              </a:buClr>
              <a:buFont typeface="Arial"/>
              <a:buChar char="•"/>
            </a:pPr>
            <a:r>
              <a:rPr sz="1600" b="0" i="0">
                <a:solidFill>
                  <a:srgbClr val="0B0B0B"/>
                </a:solidFill>
                <a:latin typeface="Segoe UI Semibold"/>
              </a:rPr>
              <a:t>Why it matters:</a:t>
            </a:r>
            <a:r>
              <a:rPr sz="1600" b="0" i="0">
                <a:solidFill>
                  <a:srgbClr val="52514E"/>
                </a:solidFill>
                <a:latin typeface="Segoe UI"/>
              </a:rPr>
              <a:t> a precision-only evaluation would never see this trade.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0" i="0">
                <a:solidFill>
                  <a:srgbClr val="0B0B0B"/>
                </a:solidFill>
                <a:latin typeface="Segoe UI Semibold"/>
              </a:rPr>
              <a:t>A stronger extractor moves recall far more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52514E"/>
                </a:solidFill>
                <a:latin typeface="Segoe UI"/>
              </a:rPr>
              <a:t>gpt-oss-120b vs llama-3.3-70b on identical input, page-matched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98781"/>
                </a:solidFill>
                <a:latin typeface="Segoe UI"/>
              </a:rPr>
              <a:t>ESGenuine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  <p:pic>
        <p:nvPicPr>
          <p:cNvPr id="6" name="Picture 5" descr="fig_readme_3_extr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7589520" cy="34751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737360"/>
            <a:ext cx="3246120" cy="1234440"/>
          </a:xfrm>
          <a:prstGeom prst="roundRect">
            <a:avLst>
              <a:gd name="adj" fmla="val 6000"/>
            </a:avLst>
          </a:prstGeom>
          <a:solidFill>
            <a:srgbClr val="CDE2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2000" b="0" i="0">
                <a:solidFill>
                  <a:srgbClr val="0B0B0B"/>
                </a:solidFill>
                <a:latin typeface="Segoe UI Semibold"/>
              </a:rPr>
              <a:t>31.7% → 0.9%</a:t>
            </a:r>
          </a:p>
          <a:p>
            <a:pPr algn="l">
              <a:spcBef>
                <a:spcPts val="300"/>
              </a:spcBef>
            </a:pPr>
            <a:r>
              <a:rPr sz="1250" b="0" i="0">
                <a:solidFill>
                  <a:srgbClr val="52514E"/>
                </a:solidFill>
                <a:latin typeface="Segoe UI"/>
              </a:rPr>
              <a:t>values not found on the cited page (statutory filing)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3246120"/>
            <a:ext cx="32461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56032" indent="-256032">
              <a:lnSpc>
                <a:spcPct val="108000"/>
              </a:lnSpc>
              <a:spcAft>
                <a:spcPts val="1200"/>
              </a:spcAft>
              <a:buClr>
                <a:srgbClr val="898781"/>
              </a:buClr>
              <a:buFont typeface="Arial"/>
              <a:buChar char="•"/>
            </a:pPr>
            <a:r>
              <a:rPr sz="1400" b="0" i="0">
                <a:solidFill>
                  <a:srgbClr val="0B0B0B"/>
                </a:solidFill>
                <a:latin typeface="Segoe UI Semibold"/>
              </a:rPr>
              <a:t>Honest null:</a:t>
            </a:r>
            <a:r>
              <a:rPr sz="1400" b="0" i="0">
                <a:solidFill>
                  <a:srgbClr val="52514E"/>
                </a:solidFill>
                <a:latin typeface="Segoe UI"/>
              </a:rPr>
              <a:t> this cannot tell us whether repair survives a model upgrade.</a:t>
            </a:r>
          </a:p>
          <a:p>
            <a:pPr marL="256032" indent="-256032">
              <a:lnSpc>
                <a:spcPct val="108000"/>
              </a:lnSpc>
              <a:spcAft>
                <a:spcPts val="1200"/>
              </a:spcAft>
              <a:buClr>
                <a:srgbClr val="898781"/>
              </a:buClr>
              <a:buFont typeface="Arial"/>
              <a:buChar char="•"/>
            </a:pPr>
            <a:r>
              <a:rPr sz="1400" b="0" i="0">
                <a:solidFill>
                  <a:srgbClr val="0B0B0B"/>
                </a:solidFill>
                <a:latin typeface="Segoe UI Semibold"/>
              </a:rPr>
              <a:t>The gate does not go quiet:</a:t>
            </a:r>
            <a:r>
              <a:rPr sz="1400" b="0" i="0">
                <a:solidFill>
                  <a:srgbClr val="52514E"/>
                </a:solidFill>
                <a:latin typeface="Segoe UI"/>
              </a:rPr>
              <a:t> it changes 37.7% of the stronger model's taxonomy labels, vs 15.4%.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0" i="0">
                <a:solidFill>
                  <a:srgbClr val="0B0B0B"/>
                </a:solidFill>
                <a:latin typeface="Segoe UI Semibold"/>
              </a:rPr>
              <a:t>Evaluation we can defend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52514E"/>
                </a:solidFill>
                <a:latin typeface="Segoe UI"/>
              </a:rPr>
              <a:t>Built so the numbers cannot quietly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98781"/>
                </a:solidFill>
                <a:latin typeface="Segoe UI"/>
              </a:rPr>
              <a:t>ESGenuine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411480"/>
          <a:lstStyle/>
          <a:p>
            <a:pPr algn="l"/>
            <a:r>
              <a:rPr sz="1800" b="0" i="0">
                <a:solidFill>
                  <a:srgbClr val="0B0B0B"/>
                </a:solidFill>
                <a:latin typeface="Segoe UI Semibold"/>
              </a:rPr>
              <a:t>Confidence intervals everywhere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52514E"/>
                </a:solidFill>
                <a:latin typeface="Segoe UI"/>
              </a:rPr>
              <a:t>Bootstrap, 2,000 resamples; paired for ablation deltas.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82880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411480"/>
          <a:lstStyle/>
          <a:p>
            <a:pPr algn="l"/>
            <a:r>
              <a:rPr sz="1800" b="0" i="0">
                <a:solidFill>
                  <a:srgbClr val="0B0B0B"/>
                </a:solidFill>
                <a:latin typeface="Segoe UI Semibold"/>
              </a:rPr>
              <a:t>Tamper-gated ground truth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52514E"/>
                </a:solidFill>
                <a:latin typeface="Segoe UI"/>
              </a:rPr>
              <a:t>CI fails the build if a gold label changes without a version bump.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19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411480"/>
          <a:lstStyle/>
          <a:p>
            <a:pPr algn="l"/>
            <a:r>
              <a:rPr sz="1800" b="0" i="0">
                <a:solidFill>
                  <a:srgbClr val="0B0B0B"/>
                </a:solidFill>
                <a:latin typeface="Segoe UI Semibold"/>
              </a:rPr>
              <a:t>Offline reproduction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52514E"/>
                </a:solidFill>
                <a:latin typeface="Segoe UI"/>
              </a:rPr>
              <a:t>Frozen fixtures: every number recomputes in seconds, with no API key.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3703319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411480"/>
          <a:lstStyle/>
          <a:p>
            <a:pPr algn="l"/>
            <a:r>
              <a:rPr sz="1800" b="0" i="0">
                <a:solidFill>
                  <a:srgbClr val="0B0B0B"/>
                </a:solidFill>
                <a:latin typeface="Segoe UI Semibold"/>
              </a:rPr>
              <a:t>Self-correcting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52514E"/>
                </a:solidFill>
                <a:latin typeface="Segoe UI"/>
              </a:rPr>
              <a:t>We retracted one of our own findings when a cross-check disproved it, and reported a null instead of a win.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0" i="0">
                <a:solidFill>
                  <a:srgbClr val="0B0B0B"/>
                </a:solidFill>
                <a:latin typeface="Segoe UI Semibold"/>
              </a:rPr>
              <a:t>What this does not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52514E"/>
                </a:solidFill>
                <a:latin typeface="Segoe UI"/>
              </a:rPr>
              <a:t>Stated up front, not left for someone else to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98781"/>
                </a:solidFill>
                <a:latin typeface="Segoe UI"/>
              </a:rPr>
              <a:t>ESGenuine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56032" indent="-256032">
              <a:lnSpc>
                <a:spcPct val="108000"/>
              </a:lnSpc>
              <a:spcAft>
                <a:spcPts val="2200"/>
              </a:spcAft>
              <a:buClr>
                <a:srgbClr val="898781"/>
              </a:buClr>
              <a:buFont typeface="Arial"/>
              <a:buChar char="•"/>
            </a:pPr>
            <a:r>
              <a:rPr sz="1900" b="0" i="0">
                <a:solidFill>
                  <a:srgbClr val="0B0B0B"/>
                </a:solidFill>
                <a:latin typeface="Segoe UI Semibold"/>
              </a:rPr>
              <a:t>Development sets, not held-out:</a:t>
            </a:r>
            <a:r>
              <a:rPr sz="1900" b="0" i="0">
                <a:solidFill>
                  <a:srgbClr val="52514E"/>
                </a:solidFill>
                <a:latin typeface="Segoe UI"/>
              </a:rPr>
              <a:t> the taxonomy and rules were tuned on both annotated sets, so absolute scores are not generalisation evidence. The paired deltas are unaffected.</a:t>
            </a:r>
          </a:p>
          <a:p>
            <a:pPr marL="256032" indent="-256032">
              <a:lnSpc>
                <a:spcPct val="108000"/>
              </a:lnSpc>
              <a:spcAft>
                <a:spcPts val="2200"/>
              </a:spcAft>
              <a:buClr>
                <a:srgbClr val="898781"/>
              </a:buClr>
              <a:buFont typeface="Arial"/>
              <a:buChar char="•"/>
            </a:pPr>
            <a:r>
              <a:rPr sz="1900" b="0" i="0">
                <a:solidFill>
                  <a:srgbClr val="0B0B0B"/>
                </a:solidFill>
                <a:latin typeface="Segoe UI Semibold"/>
              </a:rPr>
              <a:t>Single annotator,</a:t>
            </a:r>
            <a:r>
              <a:rPr sz="1900" b="0" i="0">
                <a:solidFill>
                  <a:srgbClr val="52514E"/>
                </a:solidFill>
                <a:latin typeface="Segoe UI"/>
              </a:rPr>
              <a:t> 100 labels, no agreement statistic yet.</a:t>
            </a:r>
          </a:p>
          <a:p>
            <a:pPr marL="256032" indent="-256032">
              <a:lnSpc>
                <a:spcPct val="108000"/>
              </a:lnSpc>
              <a:spcAft>
                <a:spcPts val="2200"/>
              </a:spcAft>
              <a:buClr>
                <a:srgbClr val="898781"/>
              </a:buClr>
              <a:buFont typeface="Arial"/>
              <a:buChar char="•"/>
            </a:pPr>
            <a:r>
              <a:rPr sz="1900" b="0" i="0">
                <a:solidFill>
                  <a:srgbClr val="0B0B0B"/>
                </a:solidFill>
                <a:latin typeface="Segoe UI Semibold"/>
              </a:rPr>
              <a:t>One document per regime:</a:t>
            </a:r>
            <a:r>
              <a:rPr sz="1900" b="0" i="0">
                <a:solidFill>
                  <a:srgbClr val="52514E"/>
                </a:solidFill>
                <a:latin typeface="Segoe UI"/>
              </a:rPr>
              <a:t> the regime result contrasts two documents, not two populations.</a:t>
            </a:r>
          </a:p>
          <a:p>
            <a:pPr marL="256032" indent="-256032">
              <a:lnSpc>
                <a:spcPct val="108000"/>
              </a:lnSpc>
              <a:spcAft>
                <a:spcPts val="2200"/>
              </a:spcAft>
              <a:buClr>
                <a:srgbClr val="898781"/>
              </a:buClr>
              <a:buFont typeface="Arial"/>
              <a:buChar char="•"/>
            </a:pPr>
            <a:r>
              <a:rPr sz="1900" b="0" i="0">
                <a:solidFill>
                  <a:srgbClr val="0B0B0B"/>
                </a:solidFill>
                <a:latin typeface="Segoe UI Semibold"/>
              </a:rPr>
              <a:t>Unmeasured components:</a:t>
            </a:r>
            <a:r>
              <a:rPr sz="1900" b="0" i="0">
                <a:solidFill>
                  <a:srgbClr val="52514E"/>
                </a:solidFill>
                <a:latin typeface="Segoe UI"/>
              </a:rPr>
              <a:t> the integrity score's weights are hand-set and uncalibrated; satellite verification has been exercised on two locations.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0" i="0">
                <a:solidFill>
                  <a:srgbClr val="0B0B0B"/>
                </a:solidFill>
                <a:latin typeface="Segoe UI Semibold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52514E"/>
                </a:solidFill>
                <a:latin typeface="Segoe UI"/>
              </a:rPr>
              <a:t>One claim, from the globe down to its source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98781"/>
                </a:solidFill>
                <a:latin typeface="Segoe UI"/>
              </a:rPr>
              <a:t>ESGenuine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Segoe UI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874519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56231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0">
                <a:solidFill>
                  <a:srgbClr val="0B0B0B"/>
                </a:solidFill>
                <a:latin typeface="Segoe UI Semibold"/>
              </a:rPr>
              <a:t>Portfolio globe</a:t>
            </a:r>
            <a:r>
              <a:rPr sz="1600" b="0" i="0">
                <a:solidFill>
                  <a:srgbClr val="52514E"/>
                </a:solidFill>
                <a:latin typeface="Segoe UI"/>
              </a:rPr>
              <a:t>   pick a company from the map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07207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788919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0">
                <a:solidFill>
                  <a:srgbClr val="0B0B0B"/>
                </a:solidFill>
                <a:latin typeface="Segoe UI Semibold"/>
              </a:rPr>
              <a:t>Claim explorer</a:t>
            </a:r>
            <a:r>
              <a:rPr sz="1600" b="0" i="0">
                <a:solidFill>
                  <a:srgbClr val="52514E"/>
                </a:solidFill>
                <a:latin typeface="Segoe UI"/>
              </a:rPr>
              <a:t>   open a claim: value, unit, taxonomy node, page, source sentence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739895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721607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0">
                <a:solidFill>
                  <a:srgbClr val="0B0B0B"/>
                </a:solidFill>
                <a:latin typeface="Segoe UI Semibold"/>
              </a:rPr>
              <a:t>Integrity audit</a:t>
            </a:r>
            <a:r>
              <a:rPr sz="1600" b="0" i="0">
                <a:solidFill>
                  <a:srgbClr val="52514E"/>
                </a:solidFill>
                <a:latin typeface="Segoe UI"/>
              </a:rPr>
              <a:t>   greenwashing flags and cross-report contradictions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672583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654295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0">
                <a:solidFill>
                  <a:srgbClr val="0B0B0B"/>
                </a:solidFill>
                <a:latin typeface="Segoe UI Semibold"/>
              </a:rPr>
              <a:t>System transparency</a:t>
            </a:r>
            <a:r>
              <a:rPr sz="1600" b="0" i="0">
                <a:solidFill>
                  <a:srgbClr val="52514E"/>
                </a:solidFill>
                <a:latin typeface="Segoe UI"/>
              </a:rPr>
              <a:t>   the pipeline and models behind every number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0" i="0">
                <a:solidFill>
                  <a:srgbClr val="0B0B0B"/>
                </a:solidFill>
                <a:latin typeface="Segoe UI Semibold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98781"/>
                </a:solidFill>
                <a:latin typeface="Segoe UI"/>
              </a:rPr>
              <a:t>ESGenuine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7665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56032" indent="-256032">
              <a:lnSpc>
                <a:spcPct val="108000"/>
              </a:lnSpc>
              <a:spcAft>
                <a:spcPts val="1600"/>
              </a:spcAft>
              <a:buClr>
                <a:srgbClr val="898781"/>
              </a:buClr>
              <a:buFont typeface="Arial"/>
              <a:buChar char="•"/>
            </a:pPr>
            <a:r>
              <a:rPr sz="1700" b="0" i="0">
                <a:solidFill>
                  <a:srgbClr val="0B0B0B"/>
                </a:solidFill>
                <a:latin typeface="Segoe UI Semibold"/>
              </a:rPr>
              <a:t>A held-out test set</a:t>
            </a:r>
            <a:r>
              <a:rPr sz="1700" b="0" i="0">
                <a:solidFill>
                  <a:srgbClr val="52514E"/>
                </a:solidFill>
                <a:latin typeface="Segoe UI"/>
              </a:rPr>
              <a:t> on a report never tuned on (Infosys, the corpus's hardest).</a:t>
            </a:r>
          </a:p>
          <a:p>
            <a:pPr marL="256032" indent="-256032">
              <a:lnSpc>
                <a:spcPct val="108000"/>
              </a:lnSpc>
              <a:spcAft>
                <a:spcPts val="1600"/>
              </a:spcAft>
              <a:buClr>
                <a:srgbClr val="898781"/>
              </a:buClr>
              <a:buFont typeface="Arial"/>
              <a:buChar char="•"/>
            </a:pPr>
            <a:r>
              <a:rPr sz="1700" b="0" i="0">
                <a:solidFill>
                  <a:srgbClr val="0B0B0B"/>
                </a:solidFill>
                <a:latin typeface="Segoe UI Semibold"/>
              </a:rPr>
              <a:t>Calibrate the integrity score</a:t>
            </a:r>
            <a:r>
              <a:rPr sz="1700" b="0" i="0">
                <a:solidFill>
                  <a:srgbClr val="52514E"/>
                </a:solidFill>
                <a:latin typeface="Segoe UI"/>
              </a:rPr>
              <a:t> against an external signal: analyst ratings, restatements, controversies.</a:t>
            </a:r>
          </a:p>
          <a:p>
            <a:pPr marL="256032" indent="-256032">
              <a:lnSpc>
                <a:spcPct val="108000"/>
              </a:lnSpc>
              <a:spcAft>
                <a:spcPts val="1600"/>
              </a:spcAft>
              <a:buClr>
                <a:srgbClr val="898781"/>
              </a:buClr>
              <a:buFont typeface="Arial"/>
              <a:buChar char="•"/>
            </a:pPr>
            <a:r>
              <a:rPr sz="1700" b="0" i="0">
                <a:solidFill>
                  <a:srgbClr val="0B0B0B"/>
                </a:solidFill>
                <a:latin typeface="Segoe UI Semibold"/>
              </a:rPr>
              <a:t>Source-anchored gold labels,</a:t>
            </a:r>
            <a:r>
              <a:rPr sz="1700" b="0" i="0">
                <a:solidFill>
                  <a:srgbClr val="52514E"/>
                </a:solidFill>
                <a:latin typeface="Segoe UI"/>
              </a:rPr>
              <a:t> so different extractors can be scored on the same ground truth.</a:t>
            </a:r>
          </a:p>
          <a:p>
            <a:pPr marL="256032" indent="-256032">
              <a:lnSpc>
                <a:spcPct val="108000"/>
              </a:lnSpc>
              <a:spcAft>
                <a:spcPts val="1600"/>
              </a:spcAft>
              <a:buClr>
                <a:srgbClr val="898781"/>
              </a:buClr>
              <a:buFont typeface="Arial"/>
              <a:buChar char="•"/>
            </a:pPr>
            <a:r>
              <a:rPr sz="1700" b="0" i="0">
                <a:solidFill>
                  <a:srgbClr val="0B0B0B"/>
                </a:solidFill>
                <a:latin typeface="Segoe UI Semibold"/>
              </a:rPr>
              <a:t>More sectors and disclosure formats:</a:t>
            </a:r>
            <a:r>
              <a:rPr sz="1700" b="0" i="0">
                <a:solidFill>
                  <a:srgbClr val="52514E"/>
                </a:solidFill>
                <a:latin typeface="Segoe UI"/>
              </a:rPr>
              <a:t> a bank, a retailer, a heavy-industry firm.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210312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400" b="0" i="0">
                <a:solidFill>
                  <a:srgbClr val="0B0B0B"/>
                </a:solidFill>
                <a:latin typeface="Segoe UI Semibo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82127" y="315468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0" i="0">
                <a:solidFill>
                  <a:srgbClr val="52514E"/>
                </a:solidFill>
                <a:latin typeface="Segoe UI"/>
              </a:rPr>
              <a:t>Questions?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589520" y="2011680"/>
            <a:ext cx="0" cy="192024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